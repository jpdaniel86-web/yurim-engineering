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3E05A"/>
              </a:solidFill>
              <a:ln w="9525" cap="flat">
                <a:solidFill>
                  <a:srgbClr val="0B1410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B2A1D"/>
              </a:solidFill>
              <a:ln w="9525" cap="flat">
                <a:solidFill>
                  <a:srgbClr val="0B1410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달성</c:v>
                </c:pt>
                <c:pt idx="1">
                  <c:v>잔여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93.3</c:v>
                </c:pt>
                <c:pt idx="1">
                  <c:v>6.700000000000003</c:v>
                </c:pt>
              </c:numCache>
            </c:numRef>
          </c:val>
        </c:ser>
        <c:firstSliceAng val="0"/>
        <c:holeSize val="8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0B141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3E05A"/>
              </a:solidFill>
              <a:ln w="9525" cap="flat">
                <a:solidFill>
                  <a:srgbClr val="0B1410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B2A1D"/>
              </a:solidFill>
              <a:ln w="9525" cap="flat">
                <a:solidFill>
                  <a:srgbClr val="0B1410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달성</c:v>
                </c:pt>
                <c:pt idx="1">
                  <c:v>잔여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98</c:v>
                </c:pt>
                <c:pt idx="1">
                  <c:v>2</c:v>
                </c:pt>
              </c:numCache>
            </c:numRef>
          </c:val>
        </c:ser>
        <c:firstSliceAng val="0"/>
        <c:holeSize val="8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0B141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3E05A"/>
              </a:solidFill>
              <a:ln w="9525" cap="flat">
                <a:solidFill>
                  <a:srgbClr val="0B1410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B2A1D"/>
              </a:solidFill>
              <a:ln w="9525" cap="flat">
                <a:solidFill>
                  <a:srgbClr val="0B1410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달성</c:v>
                </c:pt>
                <c:pt idx="1">
                  <c:v>잔여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100</c:v>
                </c:pt>
                <c:pt idx="1">
                  <c:v>0.001</c:v>
                </c:pt>
              </c:numCache>
            </c:numRef>
          </c:val>
        </c:ser>
        <c:firstSliceAng val="0"/>
        <c:holeSize val="8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0B141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3E05A"/>
              </a:solidFill>
              <a:ln w="9525" cap="flat">
                <a:solidFill>
                  <a:srgbClr val="0B1410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B2A1D"/>
              </a:solidFill>
              <a:ln w="9525" cap="flat">
                <a:solidFill>
                  <a:srgbClr val="0B1410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달성</c:v>
                </c:pt>
                <c:pt idx="1">
                  <c:v>잔여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</c:ser>
        <c:firstSliceAng val="0"/>
        <c:holeSize val="8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0B141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8B9A88"/>
                </a:solidFill>
                <a:latin typeface="맑은 고딕"/>
              </a:defRPr>
            </a:pPr>
            <a:r>
              <a:rPr sz="1200" b="0" i="0" u="none" strike="noStrike">
                <a:solidFill>
                  <a:srgbClr val="8B9A88"/>
                </a:solidFill>
                <a:latin typeface="맑은 고딕"/>
              </a:rPr>
              <a:t>돈사별 암모니아 농도 변화 (단위: ppm)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육성사1</c:v>
                </c:pt>
              </c:strCache>
            </c:strRef>
          </c:tx>
          <c:spPr>
            <a:solidFill>
              <a:srgbClr val="C3E05A"/>
            </a:solidFill>
            <a:ln w="38100" cap="flat">
              <a:solidFill>
                <a:srgbClr val="C3E0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3E05A"/>
              </a:solidFill>
              <a:ln w="9525" cap="flat">
                <a:solidFill>
                  <a:srgbClr val="C3E0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4/30</c:v>
                  </c:pt>
                  <c:pt idx="1">
                    <c:v>5/07</c:v>
                  </c:pt>
                  <c:pt idx="2">
                    <c:v>5/15</c:v>
                  </c:pt>
                  <c:pt idx="3">
                    <c:v>5/22</c:v>
                  </c:pt>
                  <c:pt idx="4">
                    <c:v>5/30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17.6</c:v>
                </c:pt>
                <c:pt idx="1">
                  <c:v>7.8</c:v>
                </c:pt>
                <c:pt idx="2">
                  <c:v>5.8</c:v>
                </c:pt>
                <c:pt idx="3">
                  <c:v>3.9</c:v>
                </c:pt>
                <c:pt idx="4">
                  <c:v>1.2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육성사2</c:v>
                </c:pt>
              </c:strCache>
            </c:strRef>
          </c:tx>
          <c:spPr>
            <a:solidFill>
              <a:srgbClr val="FFFFFF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4/30</c:v>
                  </c:pt>
                  <c:pt idx="1">
                    <c:v>5/07</c:v>
                  </c:pt>
                  <c:pt idx="2">
                    <c:v>5/15</c:v>
                  </c:pt>
                  <c:pt idx="3">
                    <c:v>5/22</c:v>
                  </c:pt>
                  <c:pt idx="4">
                    <c:v>5/30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18.2</c:v>
                </c:pt>
                <c:pt idx="1">
                  <c:v>8.7</c:v>
                </c:pt>
                <c:pt idx="2">
                  <c:v>5.2</c:v>
                </c:pt>
                <c:pt idx="3">
                  <c:v>3.6</c:v>
                </c:pt>
                <c:pt idx="4">
                  <c:v>1.7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비육사</c:v>
                </c:pt>
              </c:strCache>
            </c:strRef>
          </c:tx>
          <c:spPr>
            <a:solidFill>
              <a:srgbClr val="6E9E4E"/>
            </a:solidFill>
            <a:ln w="38100" cap="flat">
              <a:solidFill>
                <a:srgbClr val="6E9E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6E9E4E"/>
              </a:solidFill>
              <a:ln w="9525" cap="flat">
                <a:solidFill>
                  <a:srgbClr val="6E9E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4/30</c:v>
                  </c:pt>
                  <c:pt idx="1">
                    <c:v>5/07</c:v>
                  </c:pt>
                  <c:pt idx="2">
                    <c:v>5/15</c:v>
                  </c:pt>
                  <c:pt idx="3">
                    <c:v>5/22</c:v>
                  </c:pt>
                  <c:pt idx="4">
                    <c:v>5/30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17.8</c:v>
                </c:pt>
                <c:pt idx="1">
                  <c:v>11.9</c:v>
                </c:pt>
                <c:pt idx="2">
                  <c:v>7.3</c:v>
                </c:pt>
                <c:pt idx="3">
                  <c:v>4.1</c:v>
                </c:pt>
                <c:pt idx="4">
                  <c:v>1.3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돈분저장소</c:v>
                </c:pt>
              </c:strCache>
            </c:strRef>
          </c:tx>
          <c:spPr>
            <a:solidFill>
              <a:srgbClr val="C2A36B"/>
            </a:solidFill>
            <a:ln w="38100" cap="flat">
              <a:solidFill>
                <a:srgbClr val="C2A3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2A36B"/>
              </a:solidFill>
              <a:ln w="9525" cap="flat">
                <a:solidFill>
                  <a:srgbClr val="C2A3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4/30</c:v>
                  </c:pt>
                  <c:pt idx="1">
                    <c:v>5/07</c:v>
                  </c:pt>
                  <c:pt idx="2">
                    <c:v>5/15</c:v>
                  </c:pt>
                  <c:pt idx="3">
                    <c:v>5/22</c:v>
                  </c:pt>
                  <c:pt idx="4">
                    <c:v>5/30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8.3</c:v>
                </c:pt>
                <c:pt idx="1">
                  <c:v>4.1</c:v>
                </c:pt>
                <c:pt idx="2">
                  <c:v>3.3</c:v>
                </c:pt>
                <c:pt idx="3">
                  <c:v>2.9</c:v>
                </c:pt>
                <c:pt idx="4">
                  <c:v>0.2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D2C1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A88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1D2C1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D2C1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A88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41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8D3C2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solidFill>
      <a:srgbClr val="0B141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살포 전 (4/30)</c:v>
                </c:pt>
              </c:strCache>
            </c:strRef>
          </c:tx>
          <c:spPr>
            <a:solidFill>
              <a:srgbClr val="C8CEC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1C16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육성사1</c:v>
                  </c:pt>
                  <c:pt idx="1">
                    <c:v>육성사2</c:v>
                  </c:pt>
                  <c:pt idx="2">
                    <c:v>비육사</c:v>
                  </c:pt>
                  <c:pt idx="3">
                    <c:v>돈분저장소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17.6</c:v>
                </c:pt>
                <c:pt idx="1">
                  <c:v>18.2</c:v>
                </c:pt>
                <c:pt idx="2">
                  <c:v>17.8</c:v>
                </c:pt>
                <c:pt idx="3">
                  <c:v>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살포 후 (5/30)</c:v>
                </c:pt>
              </c:strCache>
            </c:strRef>
          </c:tx>
          <c:spPr>
            <a:solidFill>
              <a:srgbClr val="2F5D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1C16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육성사1</c:v>
                  </c:pt>
                  <c:pt idx="1">
                    <c:v>육성사2</c:v>
                  </c:pt>
                  <c:pt idx="2">
                    <c:v>비육사</c:v>
                  </c:pt>
                  <c:pt idx="3">
                    <c:v>돈분저장소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</c:v>
                </c:pt>
                <c:pt idx="1">
                  <c:v>1.7</c:v>
                </c:pt>
                <c:pt idx="2">
                  <c:v>1.3</c:v>
                </c:pt>
                <c:pt idx="3">
                  <c:v>0.2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141C16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6DAD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C16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b"/>
        <c:majorGridlines>
          <c:spPr>
            <a:ln w="12700" cap="flat">
              <a:solidFill>
                <a:srgbClr val="E1E4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1E4DD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370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F3F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6B7370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solidFill>
      <a:srgbClr val="F2F3F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3E05A"/>
              </a:solidFill>
              <a:ln w="9525" cap="flat">
                <a:solidFill>
                  <a:srgbClr val="F2F3F0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FE3DA"/>
              </a:solidFill>
              <a:ln w="9525" cap="flat">
                <a:solidFill>
                  <a:srgbClr val="F2F3F0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달성</c:v>
                </c:pt>
                <c:pt idx="1">
                  <c:v>잔여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</c:ser>
        <c:firstSliceAng val="0"/>
        <c:holeSize val="8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2F3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2-1.mp4"/><Relationship Id="rId2" Type="http://schemas.microsoft.com/office/2007/relationships/media" Target="../media/media-12-1.mp4"/><Relationship Id="rId3" Type="http://schemas.openxmlformats.org/officeDocument/2006/relationships/image" Target="../media/image-12-3.png"/><Relationship Id="rId4" Type="http://schemas.openxmlformats.org/officeDocument/2006/relationships/video" Target="../media/media-12-4.mp4"/><Relationship Id="rId5" Type="http://schemas.microsoft.com/office/2007/relationships/media" Target="../media/media-12-4.mp4"/><Relationship Id="rId6" Type="http://schemas.openxmlformats.org/officeDocument/2006/relationships/image" Target="../media/image-12-6.png"/><Relationship Id="rId7" Type="http://schemas.openxmlformats.org/officeDocument/2006/relationships/video" Target="../media/media-12-7.mp4"/><Relationship Id="rId8" Type="http://schemas.microsoft.com/office/2007/relationships/media" Target="../media/media-12-7.mp4"/><Relationship Id="rId9" Type="http://schemas.openxmlformats.org/officeDocument/2006/relationships/image" Target="../media/image-12-9.png"/><Relationship Id="rId10" Type="http://schemas.openxmlformats.org/officeDocument/2006/relationships/video" Target="../media/media-12-10.mp4"/><Relationship Id="rId11" Type="http://schemas.microsoft.com/office/2007/relationships/media" Target="../media/media-12-10.mp4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2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0B141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23317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양돈농가 악취저감 및 환경개선 사업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슈퍼 바이오 골드-200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7673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D5DF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결과보고서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8463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장소     경기도 양평군 양동면 양돈농가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사육 규모     2,600두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기간     2026. 4. 30 ~ 2026. 5. 30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7월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실증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3268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개요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659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2,600</a:t>
            </a:r>
            <a:pPr indent="0" marL="0">
              <a:buNone/>
            </a:pPr>
            <a:r>
              <a:rPr lang="en-US" sz="1600" b="1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두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9077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사육 규모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9659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pPr indent="0" marL="0">
              <a:buNone/>
            </a:pPr>
            <a:r>
              <a:rPr lang="en-US" sz="1600" b="1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개월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9077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기간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9659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pPr indent="0" marL="0">
              <a:buNone/>
            </a:pPr>
            <a:r>
              <a:rPr lang="en-US" sz="1600" b="1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 지점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9077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지점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9659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pPr indent="0" marL="0">
              <a:buNone/>
            </a:pPr>
            <a:r>
              <a:rPr lang="en-US" sz="1600" b="1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회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29077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 측정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장소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178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양평군 양동면 양돈농가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99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사육 규모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92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2,600두 (자돈·육성돈·비육돈)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312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기간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605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4월 30일 ~ 5월 30일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자재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178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슈퍼 바이오 골드-200 (친환경 악취저감 미생물)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599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살포 범위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892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돈사 내부 및 바닥, 슬러지 피트, 분뇨 퇴비사, 돼지 직접 살포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5312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항목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605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암모니아 농도, 파리 개체수, 돼지 임상 징후, 분뇨 부숙 상태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60533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목적 · 고농도 악취 민원 해소, 유해 해충 억제, 분뇨 부숙 촉진을 통한 친환경 축산 환경 조성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881360" y="566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B2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결과 요약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3268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결과 요약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965960"/>
          <a:ext cx="17830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2880360" y="20756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93.3</a:t>
            </a:r>
            <a:pPr indent="0" marL="0">
              <a:buNone/>
            </a:pPr>
            <a:r>
              <a:rPr lang="en-US" sz="150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288036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E7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암모니아 저감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88036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평균 17.9ppm → 1.4ppm</a:t>
            </a:r>
            <a:endParaRPr lang="en-US" sz="12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400800" y="1965960"/>
          <a:ext cx="17830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503920" y="20756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</a:t>
            </a:r>
            <a:pPr indent="0" marL="0">
              <a:buNone/>
            </a:pPr>
            <a:r>
              <a:rPr lang="en-US" sz="150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E7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파리 증식 억제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50392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돈사 내 개체수 기준</a:t>
            </a:r>
            <a:endParaRPr lang="en-US" sz="125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777240" y="4160520"/>
          <a:ext cx="17830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2880360" y="42702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pPr indent="0" marL="0">
              <a:buNone/>
            </a:pPr>
            <a:r>
              <a:rPr lang="en-US" sz="150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3800" dirty="0"/>
          </a:p>
        </p:txBody>
      </p:sp>
      <p:sp>
        <p:nvSpPr>
          <p:cNvPr id="14" name="Text 9"/>
          <p:cNvSpPr txBox="1"/>
          <p:nvPr/>
        </p:nvSpPr>
        <p:spPr>
          <a:xfrm>
            <a:off x="2880360" y="5001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E7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생체 안전성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880360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징후 0건 / 2,600두</a:t>
            </a:r>
            <a:endParaRPr lang="en-US" sz="1250" dirty="0"/>
          </a:p>
        </p:txBody>
      </p:sp>
      <p:graphicFrame>
        <p:nvGraphicFramePr>
          <p:cNvPr id="16" name="Chart 3" descr=""/>
          <p:cNvGraphicFramePr/>
          <p:nvPr/>
        </p:nvGraphicFramePr>
        <p:xfrm>
          <a:off x="6400800" y="4160520"/>
          <a:ext cx="17830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 11"/>
          <p:cNvSpPr txBox="1"/>
          <p:nvPr/>
        </p:nvSpPr>
        <p:spPr>
          <a:xfrm>
            <a:off x="8503920" y="42702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pPr indent="0" marL="0">
              <a:buNone/>
            </a:pPr>
            <a:r>
              <a:rPr lang="en-US" sz="150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3800" dirty="0"/>
          </a:p>
        </p:txBody>
      </p:sp>
      <p:sp>
        <p:nvSpPr>
          <p:cNvPr id="18" name="Text 12"/>
          <p:cNvSpPr txBox="1"/>
          <p:nvPr/>
        </p:nvSpPr>
        <p:spPr>
          <a:xfrm>
            <a:off x="8503920" y="5001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E7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분뇨 부숙 진행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503920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1개월 경과 시점 기준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0881360" y="566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01  악취 저감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3268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암모니아(NH3) 저감 효과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93.3</a:t>
            </a:r>
            <a:pPr indent="0" marL="0">
              <a:buNone/>
            </a:pPr>
            <a:r>
              <a:rPr lang="en-US" sz="300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8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측정 지점 평균 저감율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3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평균 농도  17.9ppm</a:t>
            </a:r>
            <a:endParaRPr lang="en-US" sz="135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평균 농도  1.4ppm</a:t>
            </a:r>
            <a:endParaRPr lang="en-US" sz="135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주기  주 1회, 총 5회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532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지점에서 동일한 감소 추세가 확인됨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0" y="1783080"/>
          <a:ext cx="66751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10881360" y="566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01  악취 저감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3268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지점별 저감 현황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7406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45820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지점별 저감율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육성사1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93.1</a:t>
            </a:r>
            <a:pPr indent="0" marL="0">
              <a:buNone/>
            </a:pPr>
            <a:r>
              <a:rPr lang="en-US" sz="130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3236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육성사2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34930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90.6</a:t>
            </a:r>
            <a:pPr indent="0" marL="0">
              <a:buNone/>
            </a:pPr>
            <a:r>
              <a:rPr lang="en-US" sz="130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40782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비육사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458200" y="43342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92.3</a:t>
            </a:r>
            <a:pPr indent="0" marL="0">
              <a:buNone/>
            </a:pPr>
            <a:r>
              <a:rPr lang="en-US" sz="130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4919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돈분저장소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51755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97.5</a:t>
            </a:r>
            <a:pPr indent="0" marL="0">
              <a:buNone/>
            </a:pPr>
            <a:r>
              <a:rPr lang="en-US" sz="130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458200" y="57424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저감율  </a:t>
            </a:r>
            <a:pPr indent="0" marL="0">
              <a:buNone/>
            </a:pPr>
            <a:r>
              <a:rPr lang="en-US" sz="20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93.3 %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881360" y="566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B2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01  악취 저감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3268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암모니아 측정 기록표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459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기간 2026. 4. 30 ~ 5. 30  |  단위 ppm  |  휴대용 가스측정기 사용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10899648" cy="475488"/>
          </a:xfrm>
          <a:prstGeom prst="rect">
            <a:avLst/>
          </a:prstGeom>
          <a:solidFill>
            <a:srgbClr val="2F5D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일자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14884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육성사1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14884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육성사2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14884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비육사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21488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돈분저장소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89720" y="2148840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6243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 30일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6243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6243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6243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17.8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452360" y="26243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2624328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개시 및 1차 살포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191256"/>
            <a:ext cx="10899648" cy="566928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1912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 07일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319125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7.8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19125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8.7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319125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11.9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1912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4.1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3191256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악취 감소 체감 시작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37581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 15일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375818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375818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375818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7.3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37581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3758184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파리 개체수 급감 확인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7240" y="4325112"/>
            <a:ext cx="10899648" cy="566928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400" y="43251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 22일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926080" y="43251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3.9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434840" y="43251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0" y="43251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4.1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43251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2.9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189720" y="4325112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돈사 내 공기질 개선 확인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 30일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2926080" y="489204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434840" y="489204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1.7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943600" y="489204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7452360" y="48920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189720" y="4892040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종료 시점 측정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77240" y="5458968"/>
            <a:ext cx="10899648" cy="640080"/>
          </a:xfrm>
          <a:prstGeom prst="rect">
            <a:avLst/>
          </a:prstGeom>
          <a:solidFill>
            <a:srgbClr val="EAF0D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14400" y="54589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저감율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2926080" y="545896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93.1%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4434840" y="545896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90.6%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5943600" y="545896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92.3%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7452360" y="54589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97.5%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9189720" y="5458968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저감율 93.3%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777240" y="6217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측정은 매회 동일 지점·동일 높이에서 실시함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0881360" y="566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B2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02  해충 억제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3268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파리 증식 억제 효과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</a:t>
            </a:r>
            <a:pPr indent="0" marL="0">
              <a:buNone/>
            </a:pPr>
            <a:r>
              <a:rPr lang="en-US" sz="300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8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돈사 내 파리 개체수 감소율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0233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작용 원리  바실러스균에 의한 알·유충 발육 억제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차단 대상  파리 생체 사이클 (7~10일 주기)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시점  살포 2주차부터 개체수 급감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23560" y="2743200"/>
            <a:ext cx="1243584" cy="1243584"/>
          </a:xfrm>
          <a:prstGeom prst="ellipse">
            <a:avLst/>
          </a:prstGeom>
          <a:solidFill>
            <a:srgbClr val="1D2C1F"/>
          </a:solidFill>
          <a:ln w="19050">
            <a:solidFill>
              <a:srgbClr val="C3E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23560" y="303580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341985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0296" y="3273552"/>
            <a:ext cx="256032" cy="201168"/>
          </a:xfrm>
          <a:prstGeom prst="rightArrow">
            <a:avLst/>
          </a:prstGeom>
          <a:solidFill>
            <a:srgbClr val="3E5140"/>
          </a:solidFill>
          <a:ln/>
        </p:spPr>
      </p:sp>
      <p:sp>
        <p:nvSpPr>
          <p:cNvPr id="11" name="Shape 9"/>
          <p:cNvSpPr/>
          <p:nvPr/>
        </p:nvSpPr>
        <p:spPr>
          <a:xfrm>
            <a:off x="7251192" y="2743200"/>
            <a:ext cx="1243584" cy="1243584"/>
          </a:xfrm>
          <a:prstGeom prst="ellipse">
            <a:avLst/>
          </a:prstGeom>
          <a:solidFill>
            <a:srgbClr val="1D2C1F"/>
          </a:solidFill>
          <a:ln w="19050">
            <a:solidFill>
              <a:srgbClr val="C3E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51192" y="303580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유충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51192" y="341985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구더기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67928" y="3273552"/>
            <a:ext cx="256032" cy="201168"/>
          </a:xfrm>
          <a:prstGeom prst="rightArrow">
            <a:avLst/>
          </a:prstGeom>
          <a:solidFill>
            <a:srgbClr val="3E5140"/>
          </a:solidFill>
          <a:ln/>
        </p:spPr>
      </p:sp>
      <p:sp>
        <p:nvSpPr>
          <p:cNvPr id="15" name="Shape 13"/>
          <p:cNvSpPr/>
          <p:nvPr/>
        </p:nvSpPr>
        <p:spPr>
          <a:xfrm>
            <a:off x="8878824" y="2743200"/>
            <a:ext cx="1243584" cy="1243584"/>
          </a:xfrm>
          <a:prstGeom prst="ellipse">
            <a:avLst/>
          </a:prstGeom>
          <a:solidFill>
            <a:srgbClr val="16241A"/>
          </a:solidFill>
          <a:ln w="19050">
            <a:solidFill>
              <a:srgbClr val="2A3C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78824" y="303580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78824" y="341985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195560" y="3273552"/>
            <a:ext cx="256032" cy="201168"/>
          </a:xfrm>
          <a:prstGeom prst="rightArrow">
            <a:avLst/>
          </a:prstGeom>
          <a:solidFill>
            <a:srgbClr val="3E514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06456" y="2743200"/>
            <a:ext cx="1243584" cy="1243584"/>
          </a:xfrm>
          <a:prstGeom prst="ellipse">
            <a:avLst/>
          </a:prstGeom>
          <a:solidFill>
            <a:srgbClr val="16241A"/>
          </a:solidFill>
          <a:ln w="19050">
            <a:solidFill>
              <a:srgbClr val="2A3C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06456" y="303580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성충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506456" y="341985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74536" y="2130552"/>
            <a:ext cx="731520" cy="731520"/>
          </a:xfrm>
          <a:prstGeom prst="ellipse">
            <a:avLst/>
          </a:prstGeom>
          <a:solidFill>
            <a:srgbClr val="C3E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74536" y="2148840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208776" y="1783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발육 억제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23560" y="42245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파리 생체 사이클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47091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알과 유충 단계에서 발육이 차단되어 성충으로 부화하지 못함.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번식 고리가 끊기면서 돈사 내 개체수가 단계적으로 감소함.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881360" y="566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02  해충 억제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3268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살포 전 파리 밀집 현황</a:t>
            </a:r>
            <a:endParaRPr lang="en-US" sz="3300" dirty="0"/>
          </a:p>
        </p:txBody>
      </p:sp>
      <p:pic>
        <p:nvPicPr>
          <p:cNvPr id="4" name="Image 0" descr="img2/fl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658368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61447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농장 내 차량 표면에 파리가 밀집한 상태 (살포 전 촬영)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240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돈사 벽면과 사료통, 농장 차량 주변까지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파리가 밀집한 상태가 지속됨.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931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살포 2주차부터 개체수가 급감하였고,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1개월 경과 시점에 98% 수준으로 감소함.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5029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</a:t>
            </a:r>
            <a:pPr indent="0" marL="0">
              <a:buNone/>
            </a:pPr>
            <a:r>
              <a:rPr lang="en-US" sz="1600" b="1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 감소</a:t>
            </a:r>
            <a:endParaRPr lang="en-US" sz="5800" dirty="0"/>
          </a:p>
        </p:txBody>
      </p:sp>
      <p:sp>
        <p:nvSpPr>
          <p:cNvPr id="11" name="Text 8"/>
          <p:cNvSpPr txBox="1"/>
          <p:nvPr/>
        </p:nvSpPr>
        <p:spPr>
          <a:xfrm>
            <a:off x="10881360" y="566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B2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2/saf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3040"/>
            <a:ext cx="5029200" cy="4572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03  생체 안전성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3268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돼지 생체 안전성 검증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8745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pPr indent="0" marL="0">
              <a:buNone/>
            </a:pPr>
            <a:r>
              <a:rPr lang="en-US" sz="320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건</a:t>
            </a:r>
            <a:endParaRPr lang="en-US" sz="11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4015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부작용 및 이상 징후 발생 건수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대상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사육 중인 돼지 2,600두 전 구간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681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살포 방식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2286000" y="4681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피부 및 호흡기 직접 분무, 간접 살포 병행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248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기간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52486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살포 기간 1개월 및 살포 직후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8155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결과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286000" y="58155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생체 이상 징후, 피부 발진, 호흡기 질환 미발생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6263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자돈·육성돈·비육돈 전 사육 단계에서 동일한 결과를 확인함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0881360" y="566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2/com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828800"/>
            <a:ext cx="512064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04  부숙 촉진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3268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분뇨 퇴비화(부숙) 촉진 효과</a:t>
            </a:r>
            <a:endParaRPr lang="en-US" sz="3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28800"/>
          <a:ext cx="2103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" y="4114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pPr algn="ctr" indent="0" marL="0">
              <a:buNone/>
            </a:pPr>
            <a:r>
              <a:rPr lang="en-US" sz="1700" b="1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892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1개월 경과 시점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부숙 진행률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3429000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유익 미생물 우점화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429000" y="2286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분뇨 슬러지에 직접 살포하여 유익균의 조기 정착을 유도함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3429000" y="296265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변화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429000" y="33101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분뇨 표면 색상 변화 및 미생물 활성화 확인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39867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1개월 경과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433425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및 내부 퇴비화가 약 30% 진행되어 안정화 단계 진입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5010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535838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통상적인 부숙 기간의 단축 가능성 확인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62727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고품질 가축분 퇴비를 조기 생산하여 경종농가에 공급하는 자연순환축산 실현이 가능함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309360" y="5760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퇴비사 분뇨 상부 집중 살포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0881360" y="566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B2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기록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살포 기록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179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돈사 내부 통로 및 바닥 살포</a:t>
            </a:r>
            <a:endParaRPr lang="en-US" sz="1150" dirty="0"/>
          </a:p>
        </p:txBody>
      </p:sp>
      <p:pic>
        <p:nvPicPr>
          <p:cNvPr id="5" name="Image 0" descr="img2/r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0512"/>
            <a:ext cx="5074920" cy="22658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36792" y="15179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슬러지 피트 및 분뇨 배출 구역 살포</a:t>
            </a:r>
            <a:endParaRPr lang="en-US" sz="1150" dirty="0"/>
          </a:p>
        </p:txBody>
      </p:sp>
      <p:pic>
        <p:nvPicPr>
          <p:cNvPr id="7" name="Image 1" descr="img2/r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810512"/>
            <a:ext cx="5074920" cy="226588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409651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사육 구역 직접 분무</a:t>
            </a:r>
            <a:endParaRPr lang="en-US" sz="1150" dirty="0"/>
          </a:p>
        </p:txBody>
      </p:sp>
      <p:pic>
        <p:nvPicPr>
          <p:cNvPr id="9" name="Image 2" descr="img2/r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89120"/>
            <a:ext cx="5074920" cy="226588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36792" y="409651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돈사 외부 및 농장 주변 살포</a:t>
            </a:r>
            <a:endParaRPr lang="en-US" sz="1150" dirty="0"/>
          </a:p>
        </p:txBody>
      </p:sp>
      <p:pic>
        <p:nvPicPr>
          <p:cNvPr id="11" name="Image 3" descr="img2/r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389120"/>
            <a:ext cx="5074920" cy="2265883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881360" y="566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기록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3268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영상 자료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6420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살포 과정 및 살포 후 상태를 촬영한 영상 자료임. 슬라이드쇼에서 재생되며, 원본 파일은 별도 제공함.</a:t>
            </a:r>
            <a:endParaRPr lang="en-US" sz="1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77240" y="2286000"/>
            <a:ext cx="2606040" cy="19568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10512" y="2999232"/>
            <a:ext cx="530352" cy="530352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810512" y="3017520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370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01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6817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돼지 몸 직접 살포</a:t>
            </a:r>
            <a:endParaRPr lang="en-US" sz="130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566160" y="2286000"/>
            <a:ext cx="2606040" cy="19568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99432" y="2999232"/>
            <a:ext cx="530352" cy="530352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599432" y="3017520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4370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02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46817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돈사 통로 살포</a:t>
            </a:r>
            <a:endParaRPr lang="en-US" sz="130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355080" y="2286000"/>
            <a:ext cx="2606040" cy="195681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88352" y="2999232"/>
            <a:ext cx="530352" cy="530352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388352" y="3017520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4370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03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46817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사육 구역 분무</a:t>
            </a:r>
            <a:endParaRPr lang="en-US" sz="1300" dirty="0"/>
          </a:p>
        </p:txBody>
      </p:sp>
      <p:pic>
        <p:nvPicPr>
          <p:cNvPr id="12" name="Media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144000" y="2286000"/>
            <a:ext cx="2606040" cy="195681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0177272" y="2999232"/>
            <a:ext cx="530352" cy="530352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10177272" y="3017520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0" y="4370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04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9144000" y="46817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살포 후 돼지 상태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 자료 현황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돈사 내 살포 사진 8장  |  돼지 직접 살포 사진 8장  |  암모니아 측정 기록 사진 20장  |  현장 영상 4건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10881360" y="566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B2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종합 결론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3268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결론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83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양평군 양동면 2,600두 규모 양돈농가에서 실시한 1개월간의 실증 결과,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중점 과제를 모두 달성함.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93.3 %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206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암모니아 저감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98 %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4206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파리 증식 억제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건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4206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징후 발생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4206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분뇨 부숙 진행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살충제 및 별도 탈취제를 사용하지 않고 미생물 자재 단일 적용만으로 도출된 결과임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사용량 및 살포 주기는 농장 규모와 사육 단계에 따라 조정 가능함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0" y="566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기대 효과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3268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C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9933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악취 민원 해소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4871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암모니아 93.3% 저감으로 인근 주민과의 민원 갈등 해소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C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543800" y="19933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가축 질병 예방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24871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파리 매개 질병의 전파 고리 차단 및 청결한 돈사 환경 유지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40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C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39136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향상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440740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악취 스트레스 감소에 따른 증체율 향상 및 출하 시기 단축 기대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840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C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39136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C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분뇨 자원화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440740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3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고품질 퇴비의 조기 생산과 경종농가 공급으로 자연순환축산 실현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870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D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검토 시 농장 규모 및 사육 단계에 맞춘 살포 계획과 예상 사용량을 별도 안내함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881360" y="566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B2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2/e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77240" y="2788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슈퍼 바이오 골드-200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794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5DF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악취 저감 · 해충 억제 · 분뇨 부숙을 단일 자재로 관리하는 친환경 축산 솔루션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5262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E0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실증 결과보고서  |  2026년 7월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2026-09-15T07:51:47Z</dcterms:created>
  <dcterms:modified xsi:type="dcterms:W3CDTF">2026-09-15T07:51:47Z</dcterms:modified>
</cp:coreProperties>
</file>